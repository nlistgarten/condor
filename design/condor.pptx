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  <p:sldId id="267" r:id="rId10"/>
    <p:sldId id="268" r:id="rId11"/>
    <p:sldId id="269" r:id="rId12"/>
    <p:sldId id="264" r:id="rId13"/>
    <p:sldId id="265" r:id="rId14"/>
    <p:sldId id="26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38"/>
    <p:restoredTop sz="96327"/>
  </p:normalViewPr>
  <p:slideViewPr>
    <p:cSldViewPr snapToGrid="0">
      <p:cViewPr varScale="1">
        <p:scale>
          <a:sx n="103" d="100"/>
          <a:sy n="103" d="100"/>
        </p:scale>
        <p:origin x="184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63116-841E-4963-CB41-BFE604E72E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F5EC20-4D79-4AB1-4DDA-4912F010B2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23C6E-F64C-595A-E249-EB7B501EA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143A82-F6C9-54D6-1ABF-5626605C6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977EC-0272-456B-683A-D4E2A46B9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772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4B27D-3B98-0679-FBFB-A9445C1B4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995FA-C41D-FBC5-5868-8D3E03F0DB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ECC8E-AF49-004F-8E92-3798ECA07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AF236-283B-69B4-2EE8-ABA461215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DE42E-99D9-F41D-DD45-A09B78E9B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633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69D59-D32F-9F33-4D9D-67489CD1A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0B9361-2F5B-784F-AEBB-306C1C8031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86592-17B4-3B9F-FF4A-82951998D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39AF7-8055-9F18-C5F0-B9071049F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9B6D3-1C35-982A-C750-0824A0F0B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00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0554-81EA-2D23-D8B5-8B49D31A0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4BA3C-B644-AEAF-0D9E-DBB444FFC6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9CF7F-30AE-A3D2-BB79-55E8136BD2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B567E8-E1FC-25BA-45CD-BFCF1C14A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29C442-0DC3-EB76-927A-E5CD57CFE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A0310E-E4AD-D59B-BE6F-DDDD8B2DA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742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7A5C2-612B-D317-616A-9B40A8839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F12CE-4C75-AF83-C30F-6C5DEA8DC8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0C541F-33FA-93E5-774D-9DBEA5810B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4954FD-ED33-0E6B-787E-17D587B46E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3299FB-015D-AA15-28B8-2C98DBA8E5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0F06EE-1C73-A7BE-09A9-4401E7FF1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453168-6BB9-F735-B585-5A734AB64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C71785-1C8F-5C49-FD19-158FAA10F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6346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D6436-69F8-A1FE-C635-3E660CC8C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3EC6D9-064D-311B-F048-366583D5D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BCE509-8CA2-1C00-DDA5-EB60ECA33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B8BFD7-C226-2AFB-E6A7-C752481CF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030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DF10DC-ED69-4CAE-A5D5-90C418D3B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5230D-04CD-2AF6-7870-ABC8EE88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9BC29-6215-4E89-2065-8C45B6F00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341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5D028-31E8-C639-5411-ED1C6D739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51ED7-F2E9-D53F-0DD0-D5FBA5709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5F7853-3EFE-54C8-36B8-49A7A4C6D0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6968A4-7AE6-C813-16C3-B76CA07BD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3BB130-FF92-66FE-EBC6-19BDB04BF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F4C219-6F0D-7CD0-839F-CAF3B84BD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159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B8BDF-C410-6C9B-C487-502D1E3F3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6EE83A-39D0-9B4A-5B16-DDB0743005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94AA89-F82F-E5D3-A20D-FFB51562B1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FBF021-2603-BD02-F977-7DF5FC9C2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BC9F91-5A09-46EF-85D6-5349AB640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90A8D3-60FC-F2F0-411C-7D03FD60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07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E70C2-260E-D9C0-1832-B3B134E56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F93F5E-08B1-B6C0-B105-B1D1EB0530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66139-E7FD-8857-383B-D2891E1DF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60330D-3D7F-8DFB-FA41-1763DC384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75B1F-18B2-3C77-1581-8FB2CB0BA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145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9987BA-AFA9-AE3B-741B-7F50A34492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FD1E37-B915-5D96-3DD2-9E76E71281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2E2176-6C82-5019-7AE4-6ED21FA78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CBA96B-CE8E-98CB-B5B1-BD37D01BE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A050C-FEA4-0E4A-0EBB-04591A39A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706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6940FE-EB0F-7FA9-8C1C-5B19F67ED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16D235-0C44-FCE0-8FD0-9835A84ED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C9A32-1F57-A4CE-612B-DDBA73FCC3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C24D50-B70E-6E43-A434-A378B909BA98}" type="datetimeFigureOut">
              <a:rPr lang="en-US" smtClean="0"/>
              <a:t>7/9/23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2E7731-3FC7-F0AE-FBEA-518EB6AC95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E49C1-9416-33F2-42BF-9705F8F298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253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30B2A-A935-51CA-759A-B88A72C10F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Condor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579763-7BFB-CF5B-9AC5-C29377D922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 modeling framework for disciplined engineers with a deadline</a:t>
            </a:r>
          </a:p>
          <a:p>
            <a:endParaRPr lang="en-US" dirty="0"/>
          </a:p>
          <a:p>
            <a:r>
              <a:rPr lang="en-US" dirty="0"/>
              <a:t>Benjamin W. L. Margolis, PhD</a:t>
            </a:r>
          </a:p>
          <a:p>
            <a:r>
              <a:rPr lang="en-US" dirty="0"/>
              <a:t>Kenneth R. Lyons, PhD</a:t>
            </a:r>
          </a:p>
          <a:p>
            <a:r>
              <a:rPr lang="en-US" dirty="0"/>
              <a:t>Joseph A. Garcia, PhD</a:t>
            </a:r>
          </a:p>
        </p:txBody>
      </p:sp>
    </p:spTree>
    <p:extLst>
      <p:ext uri="{BB962C8B-B14F-4D97-AF65-F5344CB8AC3E}">
        <p14:creationId xmlns:p14="http://schemas.microsoft.com/office/powerpoint/2010/main" val="2846078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34B2A-B7C3-DBA9-41F4-C6FAEB76B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EE1AC-09BB-6F2B-8C86-FEE00A71D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There are multiple programs/projects within the Agency that are interested in MDAO and 6DOF vehicle simulations.</a:t>
            </a:r>
          </a:p>
          <a:p>
            <a:pPr lvl="1"/>
            <a:r>
              <a:rPr lang="en-US" dirty="0">
                <a:cs typeface="Calibri"/>
              </a:rPr>
              <a:t>ARMD: 1) EPFD, 2) AATT, 3) IASP, 4) SFD</a:t>
            </a:r>
          </a:p>
          <a:p>
            <a:pPr lvl="1"/>
            <a:r>
              <a:rPr lang="en-US" dirty="0">
                <a:cs typeface="Calibri"/>
              </a:rPr>
              <a:t>HEOMD/NESC: Orion, HLS, </a:t>
            </a:r>
            <a:r>
              <a:rPr lang="en-US" dirty="0" err="1">
                <a:cs typeface="Calibri"/>
              </a:rPr>
              <a:t>etc</a:t>
            </a:r>
            <a:endParaRPr lang="en-US" dirty="0">
              <a:cs typeface="Calibri"/>
            </a:endParaRPr>
          </a:p>
          <a:p>
            <a:r>
              <a:rPr lang="en-US" dirty="0"/>
              <a:t>EPFD in particular has 3+ years of investment in a SOTA optimization framework without achieving the performance, robustness, or even flexibility of heritage tools; no delivery of promised solution to coupled optimization problem</a:t>
            </a:r>
          </a:p>
        </p:txBody>
      </p:sp>
    </p:spTree>
    <p:extLst>
      <p:ext uri="{BB962C8B-B14F-4D97-AF65-F5344CB8AC3E}">
        <p14:creationId xmlns:p14="http://schemas.microsoft.com/office/powerpoint/2010/main" val="1045520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FB3F0-A980-0038-CEEC-4DEEFD69C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could start from “scratch,” what would you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A253E-71E2-C582-DBCA-DE660EF5A5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cs typeface="Calibri"/>
              </a:rPr>
              <a:t>Leverage existing computational technology from the Machine Learning (ML) and Artificial Intelligent (AI) community</a:t>
            </a:r>
          </a:p>
          <a:p>
            <a:pPr lvl="1"/>
            <a:r>
              <a:rPr lang="en-US" dirty="0">
                <a:cs typeface="Calibri"/>
              </a:rPr>
              <a:t>Automatic Differentiation (AD)</a:t>
            </a:r>
          </a:p>
          <a:p>
            <a:pPr lvl="1"/>
            <a:r>
              <a:rPr lang="en-US" dirty="0">
                <a:cs typeface="Calibri"/>
              </a:rPr>
              <a:t>Code generation/Computational acceleration</a:t>
            </a:r>
          </a:p>
          <a:p>
            <a:r>
              <a:rPr lang="en-US" dirty="0">
                <a:cs typeface="Calibri"/>
              </a:rPr>
              <a:t>Leveraging existing best practices for library design: Application development code should be ….</a:t>
            </a:r>
          </a:p>
          <a:p>
            <a:pPr lvl="2"/>
            <a:r>
              <a:rPr lang="en-US" dirty="0">
                <a:cs typeface="Calibri"/>
              </a:rPr>
              <a:t>Concise</a:t>
            </a:r>
          </a:p>
          <a:p>
            <a:pPr lvl="3"/>
            <a:r>
              <a:rPr lang="en-US" dirty="0">
                <a:cs typeface="Calibri"/>
              </a:rPr>
              <a:t>“Expressive” coding means less typing for the developer, focus is on actual modeling</a:t>
            </a:r>
          </a:p>
          <a:p>
            <a:pPr lvl="3"/>
            <a:r>
              <a:rPr lang="en-US" dirty="0">
                <a:cs typeface="Calibri"/>
              </a:rPr>
              <a:t>Let the computer handle the repetitive part of writing code leading to less opportunity for human error</a:t>
            </a:r>
          </a:p>
          <a:p>
            <a:pPr lvl="2"/>
            <a:r>
              <a:rPr lang="en-US" dirty="0">
                <a:cs typeface="Calibri"/>
              </a:rPr>
              <a:t>Well organized </a:t>
            </a:r>
          </a:p>
          <a:p>
            <a:pPr lvl="3"/>
            <a:r>
              <a:rPr lang="en-US" dirty="0">
                <a:cs typeface="Calibri"/>
              </a:rPr>
              <a:t>Separation of distinct code by purpose (e.g. a model vs. numerical algorithm/tuning)</a:t>
            </a:r>
          </a:p>
          <a:p>
            <a:pPr lvl="3"/>
            <a:r>
              <a:rPr lang="en-US" dirty="0">
                <a:cs typeface="Calibri"/>
              </a:rPr>
              <a:t>Easier to read, write, and debug code</a:t>
            </a:r>
          </a:p>
          <a:p>
            <a:pPr lvl="3"/>
            <a:r>
              <a:rPr lang="en-US" dirty="0">
                <a:cs typeface="Calibri"/>
              </a:rPr>
              <a:t>Easier maintenance, only change code in a single location = DRY (don’t repeat yourself) code</a:t>
            </a:r>
          </a:p>
          <a:p>
            <a:r>
              <a:rPr lang="en-US" dirty="0">
                <a:cs typeface="Calibri"/>
              </a:rPr>
              <a:t>Key: don’t start from scratch! </a:t>
            </a:r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2816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2BB2B-0BC4-CA34-9227-19D20E9C4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Documentation-driven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F9831-961E-1CC2-A117-9702DB1CF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F6D1F6-26EE-C56D-A2BF-B96DE24BAAD5}"/>
              </a:ext>
            </a:extLst>
          </p:cNvPr>
          <p:cNvSpPr/>
          <p:nvPr/>
        </p:nvSpPr>
        <p:spPr>
          <a:xfrm>
            <a:off x="6084561" y="4144577"/>
            <a:ext cx="2423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C4B6AB-7D38-FA92-81FA-4A816ADC793F}"/>
              </a:ext>
            </a:extLst>
          </p:cNvPr>
          <p:cNvSpPr/>
          <p:nvPr/>
        </p:nvSpPr>
        <p:spPr>
          <a:xfrm>
            <a:off x="609600" y="1722437"/>
            <a:ext cx="6934200" cy="4830761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A36D89-6A96-8DD0-ADD7-88981BC62F9B}"/>
              </a:ext>
            </a:extLst>
          </p:cNvPr>
          <p:cNvSpPr txBox="1"/>
          <p:nvPr/>
        </p:nvSpPr>
        <p:spPr>
          <a:xfrm>
            <a:off x="3430044" y="130792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err="1"/>
              <a:t>OpenMDAO</a:t>
            </a:r>
            <a:r>
              <a:rPr lang="en-US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51D719-90E6-70C5-7C99-68C80DB35C6A}"/>
              </a:ext>
            </a:extLst>
          </p:cNvPr>
          <p:cNvSpPr/>
          <p:nvPr/>
        </p:nvSpPr>
        <p:spPr>
          <a:xfrm>
            <a:off x="7848600" y="1722438"/>
            <a:ext cx="4038600" cy="4830761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19663B-BF32-D0FC-9804-72BF2A05F44F}"/>
              </a:ext>
            </a:extLst>
          </p:cNvPr>
          <p:cNvSpPr txBox="1"/>
          <p:nvPr/>
        </p:nvSpPr>
        <p:spPr>
          <a:xfrm>
            <a:off x="9449844" y="130792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FF8E07"/>
                </a:solidFill>
              </a:rPr>
              <a:t>Condor</a:t>
            </a:r>
            <a:r>
              <a:rPr lang="en-US" sz="2400">
                <a:solidFill>
                  <a:srgbClr val="FF8E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F3D59B-2CDB-2605-44BB-7672F9BBDFF5}"/>
              </a:ext>
            </a:extLst>
          </p:cNvPr>
          <p:cNvSpPr txBox="1"/>
          <p:nvPr/>
        </p:nvSpPr>
        <p:spPr>
          <a:xfrm>
            <a:off x="5827636" y="1769591"/>
            <a:ext cx="1681422" cy="553998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b="1" dirty="0">
                <a:solidFill>
                  <a:srgbClr val="FFFF00"/>
                </a:solidFill>
              </a:rPr>
              <a:t>99 Lines</a:t>
            </a:r>
          </a:p>
          <a:p>
            <a:pPr algn="r"/>
            <a:r>
              <a:rPr lang="en-US" b="1" dirty="0">
                <a:solidFill>
                  <a:srgbClr val="FFFF00"/>
                </a:solidFill>
              </a:rPr>
              <a:t>2,188 Characters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6CE453-9872-1AEF-ED5D-4C057B1F910D}"/>
              </a:ext>
            </a:extLst>
          </p:cNvPr>
          <p:cNvSpPr txBox="1"/>
          <p:nvPr/>
        </p:nvSpPr>
        <p:spPr>
          <a:xfrm>
            <a:off x="10307586" y="1769591"/>
            <a:ext cx="1505092" cy="553998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b="1" dirty="0">
                <a:solidFill>
                  <a:srgbClr val="FFFF00"/>
                </a:solidFill>
              </a:rPr>
              <a:t>39 Lines</a:t>
            </a:r>
          </a:p>
          <a:p>
            <a:pPr algn="r"/>
            <a:r>
              <a:rPr lang="en-US" b="1" dirty="0">
                <a:solidFill>
                  <a:srgbClr val="FFFF00"/>
                </a:solidFill>
              </a:rPr>
              <a:t>612 Characters</a:t>
            </a:r>
          </a:p>
        </p:txBody>
      </p:sp>
      <p:pic>
        <p:nvPicPr>
          <p:cNvPr id="11" name="Picture 10" descr="Text&#10;&#10;Description automatically generated">
            <a:extLst>
              <a:ext uri="{FF2B5EF4-FFF2-40B4-BE49-F238E27FC236}">
                <a16:creationId xmlns:a16="http://schemas.microsoft.com/office/drawing/2014/main" id="{FCC1EDA9-E8EC-0DF4-5B05-1C0AF94E2BD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461"/>
          <a:stretch/>
        </p:blipFill>
        <p:spPr>
          <a:xfrm>
            <a:off x="860493" y="1835895"/>
            <a:ext cx="3483429" cy="205168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AFE182B8-7D9F-AD5F-793C-DD1B822EE17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77" t="-327" r="22885" b="327"/>
          <a:stretch/>
        </p:blipFill>
        <p:spPr>
          <a:xfrm>
            <a:off x="1093499" y="2577627"/>
            <a:ext cx="3189009" cy="19431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C25A5B58-E84E-E164-5F95-AF169E5A067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06"/>
          <a:stretch/>
        </p:blipFill>
        <p:spPr>
          <a:xfrm>
            <a:off x="1697527" y="2939368"/>
            <a:ext cx="3728820" cy="335470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68D30490-6C40-36C5-71CD-0DD5D77412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094"/>
          <a:stretch/>
        </p:blipFill>
        <p:spPr>
          <a:xfrm>
            <a:off x="3592172" y="3520284"/>
            <a:ext cx="3374944" cy="129159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5" name="Picture 14" descr="Text&#10;&#10;Description automatically generated">
            <a:extLst>
              <a:ext uri="{FF2B5EF4-FFF2-40B4-BE49-F238E27FC236}">
                <a16:creationId xmlns:a16="http://schemas.microsoft.com/office/drawing/2014/main" id="{D6BAEB03-5332-5E97-434D-FE405197269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963" r="38687" b="2684"/>
          <a:stretch/>
        </p:blipFill>
        <p:spPr>
          <a:xfrm>
            <a:off x="4928749" y="4357391"/>
            <a:ext cx="2526407" cy="2118049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6" name="Picture 15" descr="Text&#10;&#10;Description automatically generated">
            <a:extLst>
              <a:ext uri="{FF2B5EF4-FFF2-40B4-BE49-F238E27FC236}">
                <a16:creationId xmlns:a16="http://schemas.microsoft.com/office/drawing/2014/main" id="{0114ACE6-ED4B-89D9-8036-24E337F10215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2" r="28527" b="1662"/>
          <a:stretch/>
        </p:blipFill>
        <p:spPr>
          <a:xfrm>
            <a:off x="8002085" y="2376141"/>
            <a:ext cx="2841626" cy="413320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2986308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7870A-2041-908E-CC38-8DD9F0843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Decide how user code should look then make it possible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DBA44-8A09-E6F6-34C1-F6B9AD6CB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9A554E-34C1-357F-9D10-5937F0D31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47200" y="6689728"/>
            <a:ext cx="2844800" cy="168275"/>
          </a:xfrm>
        </p:spPr>
        <p:txBody>
          <a:bodyPr/>
          <a:lstStyle/>
          <a:p>
            <a:fld id="{0422AE60-2A93-495E-B3FF-8895B4A7E71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9DA0EB-80DB-D08E-4515-FFDC9C73E7E3}"/>
              </a:ext>
            </a:extLst>
          </p:cNvPr>
          <p:cNvSpPr/>
          <p:nvPr/>
        </p:nvSpPr>
        <p:spPr>
          <a:xfrm>
            <a:off x="6084561" y="4144578"/>
            <a:ext cx="520606" cy="1248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65EFEE-D65C-05D9-AB94-400242D8DD61}"/>
              </a:ext>
            </a:extLst>
          </p:cNvPr>
          <p:cNvSpPr/>
          <p:nvPr/>
        </p:nvSpPr>
        <p:spPr>
          <a:xfrm>
            <a:off x="170513" y="1722437"/>
            <a:ext cx="8969328" cy="4892967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74D8C1-A564-9106-4E98-DDB59E26DDDE}"/>
              </a:ext>
            </a:extLst>
          </p:cNvPr>
          <p:cNvSpPr txBox="1"/>
          <p:nvPr/>
        </p:nvSpPr>
        <p:spPr>
          <a:xfrm>
            <a:off x="5267645" y="130903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OpenMDAO</a:t>
            </a:r>
            <a:r>
              <a:rPr lang="en-US" dirty="0"/>
              <a:t>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005FC1-1925-C553-9B27-FA407E378304}"/>
              </a:ext>
            </a:extLst>
          </p:cNvPr>
          <p:cNvSpPr/>
          <p:nvPr/>
        </p:nvSpPr>
        <p:spPr>
          <a:xfrm>
            <a:off x="9269963" y="1677430"/>
            <a:ext cx="2806436" cy="4937974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1B8453-859A-61CE-19CF-98284C8A98DD}"/>
              </a:ext>
            </a:extLst>
          </p:cNvPr>
          <p:cNvSpPr txBox="1"/>
          <p:nvPr/>
        </p:nvSpPr>
        <p:spPr>
          <a:xfrm>
            <a:off x="8881188" y="1273285"/>
            <a:ext cx="1827756" cy="507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8E07"/>
                </a:solidFill>
              </a:rPr>
              <a:t>Condor</a:t>
            </a:r>
            <a:r>
              <a:rPr lang="en-US" sz="2400" dirty="0">
                <a:solidFill>
                  <a:srgbClr val="FF8E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E24914-DD86-C151-78CD-2F24D9F6145A}"/>
              </a:ext>
            </a:extLst>
          </p:cNvPr>
          <p:cNvSpPr txBox="1"/>
          <p:nvPr/>
        </p:nvSpPr>
        <p:spPr>
          <a:xfrm>
            <a:off x="5639550" y="3004458"/>
            <a:ext cx="1964079" cy="3090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C163E35A-C662-CF44-A80F-36B700C737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27"/>
          <a:stretch/>
        </p:blipFill>
        <p:spPr>
          <a:xfrm>
            <a:off x="9359396" y="2304203"/>
            <a:ext cx="2622403" cy="3954071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655A7394-2B5B-73F7-249C-915DAF6B40C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r="15460"/>
          <a:stretch/>
        </p:blipFill>
        <p:spPr>
          <a:xfrm>
            <a:off x="258150" y="1807131"/>
            <a:ext cx="3413454" cy="205168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D82E1852-9697-ABC4-665B-272E7B57287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1" t="-327" r="22885" b="327"/>
          <a:stretch/>
        </p:blipFill>
        <p:spPr>
          <a:xfrm>
            <a:off x="286401" y="3944297"/>
            <a:ext cx="3119034" cy="19431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5" name="Picture 14" descr="Text&#10;&#10;Description automatically generated">
            <a:extLst>
              <a:ext uri="{FF2B5EF4-FFF2-40B4-BE49-F238E27FC236}">
                <a16:creationId xmlns:a16="http://schemas.microsoft.com/office/drawing/2014/main" id="{E97F74C8-51B8-ED53-AF3C-DF0398921E92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7" r="9506"/>
          <a:stretch/>
        </p:blipFill>
        <p:spPr>
          <a:xfrm>
            <a:off x="3803784" y="1807131"/>
            <a:ext cx="3672078" cy="335470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6" name="Picture 15" descr="Text&#10;&#10;Description automatically generated">
            <a:extLst>
              <a:ext uri="{FF2B5EF4-FFF2-40B4-BE49-F238E27FC236}">
                <a16:creationId xmlns:a16="http://schemas.microsoft.com/office/drawing/2014/main" id="{AD734129-E83A-E10E-5CDC-DC7AAB12842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094" b="4334"/>
          <a:stretch/>
        </p:blipFill>
        <p:spPr>
          <a:xfrm>
            <a:off x="2832055" y="5303260"/>
            <a:ext cx="3374944" cy="123561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7" name="Picture 16" descr="Text&#10;&#10;Description automatically generated">
            <a:extLst>
              <a:ext uri="{FF2B5EF4-FFF2-40B4-BE49-F238E27FC236}">
                <a16:creationId xmlns:a16="http://schemas.microsoft.com/office/drawing/2014/main" id="{D0B6D1AE-34BA-485B-4A09-1D84921FC60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53"/>
          <a:stretch/>
        </p:blipFill>
        <p:spPr>
          <a:xfrm>
            <a:off x="6329436" y="4242025"/>
            <a:ext cx="2754416" cy="226885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E9C8C8-5200-5A2A-51C2-95C701C90882}"/>
              </a:ext>
            </a:extLst>
          </p:cNvPr>
          <p:cNvSpPr txBox="1"/>
          <p:nvPr/>
        </p:nvSpPr>
        <p:spPr>
          <a:xfrm>
            <a:off x="7587031" y="1783806"/>
            <a:ext cx="1509516" cy="492443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sz="1600" b="1" dirty="0">
                <a:solidFill>
                  <a:srgbClr val="FFFF00"/>
                </a:solidFill>
              </a:rPr>
              <a:t>99 Lines</a:t>
            </a:r>
          </a:p>
          <a:p>
            <a:pPr algn="r"/>
            <a:r>
              <a:rPr lang="en-US" sz="1600" b="1" dirty="0">
                <a:solidFill>
                  <a:srgbClr val="FFFF00"/>
                </a:solidFill>
              </a:rPr>
              <a:t>2,188 Characters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5F7372-B136-445C-1AE5-2EEA988BCDD9}"/>
              </a:ext>
            </a:extLst>
          </p:cNvPr>
          <p:cNvSpPr txBox="1"/>
          <p:nvPr/>
        </p:nvSpPr>
        <p:spPr>
          <a:xfrm>
            <a:off x="10664900" y="1755242"/>
            <a:ext cx="1352422" cy="492443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sz="1600" b="1" dirty="0">
                <a:solidFill>
                  <a:srgbClr val="FFFF00"/>
                </a:solidFill>
              </a:rPr>
              <a:t>39 Lines</a:t>
            </a:r>
          </a:p>
          <a:p>
            <a:pPr algn="r"/>
            <a:r>
              <a:rPr lang="en-US" sz="1600" b="1" dirty="0">
                <a:solidFill>
                  <a:srgbClr val="FFFF00"/>
                </a:solidFill>
              </a:rPr>
              <a:t>612 Characters</a:t>
            </a:r>
          </a:p>
        </p:txBody>
      </p:sp>
    </p:spTree>
    <p:extLst>
      <p:ext uri="{BB962C8B-B14F-4D97-AF65-F5344CB8AC3E}">
        <p14:creationId xmlns:p14="http://schemas.microsoft.com/office/powerpoint/2010/main" val="3768155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F59D0-33F3-CA82-290D-83585308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draft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E9633-2823-8ECF-63C3-4DCF7FB3D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Leverage existing technology: </a:t>
            </a:r>
            <a:r>
              <a:rPr lang="en-US" sz="2800" dirty="0">
                <a:cs typeface="Calibri"/>
              </a:rPr>
              <a:t>AI/ML communities know how to efficiently solve models for gradient-based optimization.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ED833F-1FFC-B810-EFFD-6FE9FEA6F3BA}"/>
              </a:ext>
            </a:extLst>
          </p:cNvPr>
          <p:cNvSpPr/>
          <p:nvPr/>
        </p:nvSpPr>
        <p:spPr>
          <a:xfrm>
            <a:off x="2562290" y="2778316"/>
            <a:ext cx="2095276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Rapid model development in Python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587E1-301B-BB05-7666-1BDE541B39BC}"/>
              </a:ext>
            </a:extLst>
          </p:cNvPr>
          <p:cNvSpPr/>
          <p:nvPr/>
        </p:nvSpPr>
        <p:spPr>
          <a:xfrm>
            <a:off x="4459009" y="4233999"/>
            <a:ext cx="1753423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Symbolic and Automatic Differentiation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98C556-3CB0-6F51-A11B-E40C5DF5050B}"/>
              </a:ext>
            </a:extLst>
          </p:cNvPr>
          <p:cNvSpPr/>
          <p:nvPr/>
        </p:nvSpPr>
        <p:spPr>
          <a:xfrm>
            <a:off x="7735330" y="2734962"/>
            <a:ext cx="3229093" cy="17548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Computation acceleration: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Compiled C/Fortran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GPU and distributed HPC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5858CD-044A-70F2-9C38-78A91D8F1B32}"/>
              </a:ext>
            </a:extLst>
          </p:cNvPr>
          <p:cNvSpPr/>
          <p:nvPr/>
        </p:nvSpPr>
        <p:spPr>
          <a:xfrm>
            <a:off x="8148272" y="4741671"/>
            <a:ext cx="2563904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Automatic interfacing to well-known </a:t>
            </a:r>
            <a:r>
              <a:rPr lang="en-US" sz="2000" i="1"/>
              <a:t>solvers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33CE526-A882-E937-BCC7-3C0DDA39F070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4657566" y="3376560"/>
            <a:ext cx="678155" cy="857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158186-2D45-05BB-FB12-C6A12036B54C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4657566" y="3376560"/>
            <a:ext cx="3490706" cy="19633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8CD3DE3-F75F-413D-39C6-4635C4F0392F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4657566" y="3376560"/>
            <a:ext cx="3077764" cy="2358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5C91D9-FEAB-C007-9CA5-4E3FEEE544B9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6212432" y="3612386"/>
            <a:ext cx="1522898" cy="1219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1D4D919-FEE7-5CB3-D5E5-D2B5D510D7EE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6212432" y="4832243"/>
            <a:ext cx="1935840" cy="507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5A835386-E84A-F672-3605-A104A3432185}"/>
              </a:ext>
            </a:extLst>
          </p:cNvPr>
          <p:cNvSpPr/>
          <p:nvPr/>
        </p:nvSpPr>
        <p:spPr>
          <a:xfrm>
            <a:off x="2467476" y="5194991"/>
            <a:ext cx="1458576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Facilitate interface to existing codes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6767167-53DC-5172-FE16-63739E934C05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9349877" y="4489810"/>
            <a:ext cx="80347" cy="2518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4FEB13-68E6-AD56-2FC9-122A53E2FA7A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V="1">
            <a:off x="3196764" y="3974804"/>
            <a:ext cx="413164" cy="1220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61E211-FC92-968F-4A22-F0FE5F88D475}"/>
              </a:ext>
            </a:extLst>
          </p:cNvPr>
          <p:cNvCxnSpPr>
            <a:stCxn id="13" idx="3"/>
            <a:endCxn id="7" idx="1"/>
          </p:cNvCxnSpPr>
          <p:nvPr/>
        </p:nvCxnSpPr>
        <p:spPr>
          <a:xfrm flipV="1">
            <a:off x="3926052" y="5339915"/>
            <a:ext cx="4222220" cy="453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0313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14638-4C8A-8373-707F-027CE6DE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EFDA3-88D0-D511-E3F7-625B340A0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alibri"/>
              </a:rPr>
              <a:t>Use pythonic patterns, built-ins, and existing libraries as much as possible</a:t>
            </a:r>
          </a:p>
          <a:p>
            <a:r>
              <a:rPr lang="en-US" dirty="0">
                <a:cs typeface="Calibri"/>
              </a:rPr>
              <a:t>Through Leveraging existing off-the-shelf (AI/ML) technology and best practices for code development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Provide well vetted tools that can do Automatic Differentiation (AD)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Reduce the time to code development both to upgrade existing code and to modify it to expand it capability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Improve robustness of the tool chain due to the above benefits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Speed up the CPU time to solutions due to Code generation/ Computational acceleration</a:t>
            </a:r>
          </a:p>
          <a:p>
            <a:r>
              <a:rPr lang="en-US" dirty="0"/>
              <a:t>Delivery of analysis! Not tool development</a:t>
            </a:r>
          </a:p>
        </p:txBody>
      </p:sp>
    </p:spTree>
    <p:extLst>
      <p:ext uri="{BB962C8B-B14F-4D97-AF65-F5344CB8AC3E}">
        <p14:creationId xmlns:p14="http://schemas.microsoft.com/office/powerpoint/2010/main" val="3707115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Freeform 41">
            <a:extLst>
              <a:ext uri="{FF2B5EF4-FFF2-40B4-BE49-F238E27FC236}">
                <a16:creationId xmlns:a16="http://schemas.microsoft.com/office/drawing/2014/main" id="{8A4978F4-A867-51F3-6668-8967EBC39DE2}"/>
              </a:ext>
            </a:extLst>
          </p:cNvPr>
          <p:cNvSpPr/>
          <p:nvPr/>
        </p:nvSpPr>
        <p:spPr>
          <a:xfrm>
            <a:off x="4261099" y="1690688"/>
            <a:ext cx="7241059" cy="4868562"/>
          </a:xfrm>
          <a:custGeom>
            <a:avLst/>
            <a:gdLst>
              <a:gd name="connsiteX0" fmla="*/ 2829697 w 7241059"/>
              <a:gd name="connsiteY0" fmla="*/ 0 h 4868562"/>
              <a:gd name="connsiteX1" fmla="*/ 2829697 w 7241059"/>
              <a:gd name="connsiteY1" fmla="*/ 2619633 h 4868562"/>
              <a:gd name="connsiteX2" fmla="*/ 0 w 7241059"/>
              <a:gd name="connsiteY2" fmla="*/ 2619633 h 4868562"/>
              <a:gd name="connsiteX3" fmla="*/ 0 w 7241059"/>
              <a:gd name="connsiteY3" fmla="*/ 2434281 h 4868562"/>
              <a:gd name="connsiteX4" fmla="*/ 0 w 7241059"/>
              <a:gd name="connsiteY4" fmla="*/ 4868562 h 4868562"/>
              <a:gd name="connsiteX5" fmla="*/ 123567 w 7241059"/>
              <a:gd name="connsiteY5" fmla="*/ 4868562 h 4868562"/>
              <a:gd name="connsiteX6" fmla="*/ 7241059 w 7241059"/>
              <a:gd name="connsiteY6" fmla="*/ 4868562 h 4868562"/>
              <a:gd name="connsiteX7" fmla="*/ 7241059 w 7241059"/>
              <a:gd name="connsiteY7" fmla="*/ 0 h 4868562"/>
              <a:gd name="connsiteX8" fmla="*/ 7080421 w 7241059"/>
              <a:gd name="connsiteY8" fmla="*/ 0 h 4868562"/>
              <a:gd name="connsiteX9" fmla="*/ 2829697 w 7241059"/>
              <a:gd name="connsiteY9" fmla="*/ 0 h 4868562"/>
              <a:gd name="connsiteX0" fmla="*/ 2829697 w 7241059"/>
              <a:gd name="connsiteY0" fmla="*/ 0 h 4868562"/>
              <a:gd name="connsiteX1" fmla="*/ 2829697 w 7241059"/>
              <a:gd name="connsiteY1" fmla="*/ 2619633 h 4868562"/>
              <a:gd name="connsiteX2" fmla="*/ 0 w 7241059"/>
              <a:gd name="connsiteY2" fmla="*/ 2619633 h 4868562"/>
              <a:gd name="connsiteX3" fmla="*/ 0 w 7241059"/>
              <a:gd name="connsiteY3" fmla="*/ 2656702 h 4868562"/>
              <a:gd name="connsiteX4" fmla="*/ 0 w 7241059"/>
              <a:gd name="connsiteY4" fmla="*/ 4868562 h 4868562"/>
              <a:gd name="connsiteX5" fmla="*/ 123567 w 7241059"/>
              <a:gd name="connsiteY5" fmla="*/ 4868562 h 4868562"/>
              <a:gd name="connsiteX6" fmla="*/ 7241059 w 7241059"/>
              <a:gd name="connsiteY6" fmla="*/ 4868562 h 4868562"/>
              <a:gd name="connsiteX7" fmla="*/ 7241059 w 7241059"/>
              <a:gd name="connsiteY7" fmla="*/ 0 h 4868562"/>
              <a:gd name="connsiteX8" fmla="*/ 7080421 w 7241059"/>
              <a:gd name="connsiteY8" fmla="*/ 0 h 4868562"/>
              <a:gd name="connsiteX9" fmla="*/ 2829697 w 7241059"/>
              <a:gd name="connsiteY9" fmla="*/ 0 h 4868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241059" h="4868562">
                <a:moveTo>
                  <a:pt x="2829697" y="0"/>
                </a:moveTo>
                <a:lnTo>
                  <a:pt x="2829697" y="2619633"/>
                </a:lnTo>
                <a:lnTo>
                  <a:pt x="0" y="2619633"/>
                </a:lnTo>
                <a:lnTo>
                  <a:pt x="0" y="2656702"/>
                </a:lnTo>
                <a:lnTo>
                  <a:pt x="0" y="4868562"/>
                </a:lnTo>
                <a:lnTo>
                  <a:pt x="123567" y="4868562"/>
                </a:lnTo>
                <a:lnTo>
                  <a:pt x="7241059" y="4868562"/>
                </a:lnTo>
                <a:lnTo>
                  <a:pt x="7241059" y="0"/>
                </a:lnTo>
                <a:lnTo>
                  <a:pt x="7080421" y="0"/>
                </a:lnTo>
                <a:lnTo>
                  <a:pt x="2829697" y="0"/>
                </a:lnTo>
                <a:close/>
              </a:path>
            </a:pathLst>
          </a:custGeom>
          <a:noFill/>
          <a:ln w="57150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89C3A4-0F1B-40C9-363B-1DAA1C18C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DRY organization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6B6600-BFA8-1417-DE3C-C5D0E26597BB}"/>
              </a:ext>
            </a:extLst>
          </p:cNvPr>
          <p:cNvSpPr/>
          <p:nvPr/>
        </p:nvSpPr>
        <p:spPr>
          <a:xfrm>
            <a:off x="1524000" y="1862359"/>
            <a:ext cx="4572000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Condor model layer: what users write to describe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A542F1-FF77-C5A9-9D70-047F16C91770}"/>
              </a:ext>
            </a:extLst>
          </p:cNvPr>
          <p:cNvSpPr/>
          <p:nvPr/>
        </p:nvSpPr>
        <p:spPr>
          <a:xfrm>
            <a:off x="1527208" y="2883999"/>
            <a:ext cx="4572000" cy="1143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Implementation layer: interface between condor model; generates everything needed to call numerical solver/perform numerical evaluation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00F06E-6CF6-7903-DE98-179C4280EE97}"/>
              </a:ext>
            </a:extLst>
          </p:cNvPr>
          <p:cNvSpPr/>
          <p:nvPr/>
        </p:nvSpPr>
        <p:spPr>
          <a:xfrm>
            <a:off x="1524000" y="4470965"/>
            <a:ext cx="4572000" cy="10732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solver layer: (numerical) </a:t>
            </a:r>
            <a:r>
              <a:rPr lang="en-US" dirty="0" err="1"/>
              <a:t>algorithm+code</a:t>
            </a:r>
            <a:r>
              <a:rPr lang="en-US" dirty="0"/>
              <a:t> for most models, e.g., Newton’s method, IPOPT, SGM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D407C-9CAF-104E-7F6D-92C86F519501}"/>
              </a:ext>
            </a:extLst>
          </p:cNvPr>
          <p:cNvSpPr/>
          <p:nvPr/>
        </p:nvSpPr>
        <p:spPr>
          <a:xfrm>
            <a:off x="7865586" y="2254075"/>
            <a:ext cx="3177941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Backend: </a:t>
            </a:r>
            <a:r>
              <a:rPr lang="en-US" dirty="0" err="1">
                <a:solidFill>
                  <a:schemeClr val="accent6"/>
                </a:solidFill>
              </a:rPr>
              <a:t>casadi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7FB76C-A80A-7B86-5F60-E1EB67317088}"/>
              </a:ext>
            </a:extLst>
          </p:cNvPr>
          <p:cNvSpPr/>
          <p:nvPr/>
        </p:nvSpPr>
        <p:spPr>
          <a:xfrm>
            <a:off x="7881629" y="2866386"/>
            <a:ext cx="3177941" cy="9061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represent elements from fields (i.e., inputs, outputs) and basic expressions (“symbols”)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53DFE0-78B3-6F91-A10F-B607F925BE43}"/>
              </a:ext>
            </a:extLst>
          </p:cNvPr>
          <p:cNvSpPr/>
          <p:nvPr/>
        </p:nvSpPr>
        <p:spPr>
          <a:xfrm>
            <a:off x="7865586" y="3826571"/>
            <a:ext cx="3177941" cy="11995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Represent models as “advanced” expressions (e.g., </a:t>
            </a:r>
            <a:r>
              <a:rPr lang="en-US" dirty="0" err="1"/>
              <a:t>casadi.callback</a:t>
            </a:r>
            <a:r>
              <a:rPr lang="en-US" dirty="0"/>
              <a:t>, </a:t>
            </a:r>
            <a:r>
              <a:rPr lang="en-US" dirty="0" err="1"/>
              <a:t>aesara.op</a:t>
            </a:r>
            <a:r>
              <a:rPr lang="en-US" dirty="0"/>
              <a:t>) with partial derivative definitions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4405F6-7914-07ED-FA37-D3680FE1693A}"/>
              </a:ext>
            </a:extLst>
          </p:cNvPr>
          <p:cNvSpPr/>
          <p:nvPr/>
        </p:nvSpPr>
        <p:spPr>
          <a:xfrm>
            <a:off x="7865586" y="5080173"/>
            <a:ext cx="3177941" cy="668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propagate (symbolic) derivatives through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DD4EE2-58B0-4B6E-6C92-7D2FF37688E9}"/>
              </a:ext>
            </a:extLst>
          </p:cNvPr>
          <p:cNvSpPr/>
          <p:nvPr/>
        </p:nvSpPr>
        <p:spPr>
          <a:xfrm>
            <a:off x="7865586" y="5802936"/>
            <a:ext cx="3177941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Callable for numerical evaluation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B20BE4F-FE2B-93B7-B281-45EC514AE0C4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6096000" y="2141492"/>
            <a:ext cx="1785629" cy="117796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E6BA22-9367-5EF9-2824-5DA04E2C89AE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6096000" y="2141492"/>
            <a:ext cx="1769586" cy="2284858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FF8452-B56E-517D-50DA-7FF5795676E6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3810000" y="2420625"/>
            <a:ext cx="3208" cy="4633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F6C259E-0A25-D926-EC92-22F22CFA03D2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3810000" y="4026999"/>
            <a:ext cx="3208" cy="4439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D5644F0-F479-69A6-831B-5A45CD21EBC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flipH="1" flipV="1">
            <a:off x="6099208" y="3455499"/>
            <a:ext cx="1766378" cy="1959033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A36C5F9-CBBC-4310-ED27-AC3773D332BE}"/>
              </a:ext>
            </a:extLst>
          </p:cNvPr>
          <p:cNvCxnSpPr>
            <a:cxnSpLocks/>
            <a:stCxn id="11" idx="1"/>
            <a:endCxn id="5" idx="3"/>
          </p:cNvCxnSpPr>
          <p:nvPr/>
        </p:nvCxnSpPr>
        <p:spPr>
          <a:xfrm flipH="1" flipV="1">
            <a:off x="6099208" y="3455499"/>
            <a:ext cx="1766378" cy="262657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1FA07CC-CC39-435E-DCE2-69CA3FF32E9E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6099208" y="3455499"/>
            <a:ext cx="1766378" cy="970851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2747C9C-4261-4877-4283-B006200025A1}"/>
              </a:ext>
            </a:extLst>
          </p:cNvPr>
          <p:cNvCxnSpPr>
            <a:cxnSpLocks/>
            <a:stCxn id="11" idx="1"/>
            <a:endCxn id="6" idx="3"/>
          </p:cNvCxnSpPr>
          <p:nvPr/>
        </p:nvCxnSpPr>
        <p:spPr>
          <a:xfrm flipH="1" flipV="1">
            <a:off x="6096000" y="5007580"/>
            <a:ext cx="1769586" cy="1074489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9706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ED72A-EEC7-6FA7-3162-A2C07866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82A0D-875E-1205-4384-5ADCE0637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Currently using </a:t>
            </a:r>
            <a:r>
              <a:rPr lang="en-US" dirty="0" err="1"/>
              <a:t>casadi</a:t>
            </a:r>
            <a:r>
              <a:rPr lang="en-US" dirty="0"/>
              <a:t> because it ships with all required functionality:</a:t>
            </a:r>
          </a:p>
          <a:p>
            <a:pPr lvl="1"/>
            <a:r>
              <a:rPr lang="en-US" dirty="0"/>
              <a:t>Easily represent symbolic elements, condor Models, and expressions</a:t>
            </a:r>
          </a:p>
          <a:p>
            <a:pPr lvl="1"/>
            <a:r>
              <a:rPr lang="en-US" dirty="0"/>
              <a:t>Propagate derivatives through symbolic expression tree</a:t>
            </a:r>
          </a:p>
          <a:p>
            <a:pPr lvl="1"/>
            <a:r>
              <a:rPr lang="en-US" dirty="0"/>
              <a:t>Generate C code for numerical evaluation of expression tree</a:t>
            </a:r>
          </a:p>
          <a:p>
            <a:pPr lvl="1"/>
            <a:r>
              <a:rPr lang="en-US" dirty="0"/>
              <a:t>Provides interfaces to IPOPT solvers at the C level</a:t>
            </a:r>
          </a:p>
          <a:p>
            <a:r>
              <a:rPr lang="en-US" dirty="0"/>
              <a:t>Other backends (e.g., </a:t>
            </a:r>
            <a:r>
              <a:rPr lang="en-US" dirty="0" err="1"/>
              <a:t>SymPy</a:t>
            </a:r>
            <a:r>
              <a:rPr lang="en-US" dirty="0"/>
              <a:t>, </a:t>
            </a:r>
            <a:r>
              <a:rPr lang="en-US" dirty="0" err="1"/>
              <a:t>Aesara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) could be used, but some of the required functionality may need to be developed</a:t>
            </a:r>
          </a:p>
          <a:p>
            <a:r>
              <a:rPr lang="en-US" dirty="0"/>
              <a:t>To use a new backend, new implementation layer will be required to generate </a:t>
            </a:r>
            <a:r>
              <a:rPr lang="en-US" dirty="0" err="1"/>
              <a:t>callables</a:t>
            </a:r>
            <a:r>
              <a:rPr lang="en-US" dirty="0"/>
              <a:t> for model (and derivatives) to pass to solvers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162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4CE4F-BB77-C6E9-E8AA-A85AD2BA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 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1409C-9E3E-B30E-4DA1-5BD501551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3268"/>
            <a:ext cx="1051560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Models use Fields generate elements (symbol atoms/leaves) for system input and build expressions for system output/internal solver computation using model-based, unary, and binary operations</a:t>
            </a:r>
          </a:p>
          <a:p>
            <a:r>
              <a:rPr lang="en-US" dirty="0"/>
              <a:t>Implementation for each model template provides two interfaces between the Model layer and symbolic backend:</a:t>
            </a:r>
          </a:p>
          <a:p>
            <a:pPr lvl="1"/>
            <a:r>
              <a:rPr lang="en-US" dirty="0"/>
              <a:t>Generates a symbolic operator for the model so symbolic backend can propagate derivatives through model [“model-based operator”]</a:t>
            </a:r>
          </a:p>
          <a:p>
            <a:pPr lvl="1"/>
            <a:r>
              <a:rPr lang="en-US" dirty="0"/>
              <a:t>Generates a numeric callable for the model so the model can be evaluated numerically; typically requires generating numerical callable for internal fields (and gradients) and passing that to the solver</a:t>
            </a:r>
          </a:p>
          <a:p>
            <a:pPr lvl="1"/>
            <a:r>
              <a:rPr lang="en-US" dirty="0"/>
              <a:t>For </a:t>
            </a:r>
            <a:r>
              <a:rPr lang="en-US" dirty="0" err="1"/>
              <a:t>casadi</a:t>
            </a:r>
            <a:r>
              <a:rPr lang="en-US" dirty="0"/>
              <a:t>, the “callback” performs both and only requires numerical implementation and metadata – likely typical</a:t>
            </a:r>
          </a:p>
          <a:p>
            <a:pPr lvl="2"/>
            <a:r>
              <a:rPr lang="en-US" dirty="0"/>
              <a:t>implementation should primarily be responsible for collecting/flattening fields</a:t>
            </a:r>
          </a:p>
          <a:p>
            <a:pPr lvl="2"/>
            <a:r>
              <a:rPr lang="en-US" dirty="0"/>
              <a:t>custom callbacks should generate </a:t>
            </a:r>
            <a:r>
              <a:rPr lang="en-US" dirty="0" err="1"/>
              <a:t>callables</a:t>
            </a:r>
            <a:r>
              <a:rPr lang="en-US" dirty="0"/>
              <a:t> to pass to solver; </a:t>
            </a:r>
            <a:r>
              <a:rPr lang="en-US" dirty="0" err="1"/>
              <a:t>casadi.callback.eval</a:t>
            </a:r>
            <a:r>
              <a:rPr lang="en-US" dirty="0"/>
              <a:t> should just call solver with </a:t>
            </a:r>
            <a:r>
              <a:rPr lang="en-US" dirty="0" err="1"/>
              <a:t>args</a:t>
            </a:r>
            <a:r>
              <a:rPr lang="en-US" dirty="0"/>
              <a:t> – only ever sees numeric, </a:t>
            </a:r>
            <a:r>
              <a:rPr lang="en-US" dirty="0" err="1"/>
              <a:t>casadi</a:t>
            </a:r>
            <a:r>
              <a:rPr lang="en-US" dirty="0"/>
              <a:t> internals handle symbolic case</a:t>
            </a:r>
          </a:p>
          <a:p>
            <a:pPr lvl="2"/>
            <a:r>
              <a:rPr lang="en-US" dirty="0"/>
              <a:t>solver should only interface with numeric callable</a:t>
            </a:r>
          </a:p>
          <a:p>
            <a:pPr lvl="1"/>
            <a:r>
              <a:rPr lang="en-US" dirty="0"/>
              <a:t>--&gt; Bind both symbolic and numeric results to model instance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3169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94556-3671-80AE-F917-ECDD9B076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32F232-6851-386C-298F-F3F85B1845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Implementations</a:t>
            </a:r>
          </a:p>
        </p:txBody>
      </p:sp>
    </p:spTree>
    <p:extLst>
      <p:ext uri="{BB962C8B-B14F-4D97-AF65-F5344CB8AC3E}">
        <p14:creationId xmlns:p14="http://schemas.microsoft.com/office/powerpoint/2010/main" val="711145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9A2D-06E5-48F6-1577-770301591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 layer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B103A5-F7DD-6D05-B116-1400B827FD7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User Model classes inherit from a Model template</a:t>
            </a:r>
          </a:p>
          <a:p>
            <a:pPr marL="0" indent="0">
              <a:buNone/>
            </a:pPr>
            <a:r>
              <a:rPr lang="en-US" dirty="0"/>
              <a:t>Model templates define the fields from which symbolic elements are drawn</a:t>
            </a:r>
          </a:p>
          <a:p>
            <a:pPr marL="0" indent="0">
              <a:buNone/>
            </a:pPr>
            <a:r>
              <a:rPr lang="en-US" dirty="0"/>
              <a:t>Disciplined system encapsulation: build up more complex models by using sub-models, but only interact through input and output fields </a:t>
            </a:r>
          </a:p>
          <a:p>
            <a:pPr marL="0" indent="0">
              <a:buNone/>
            </a:pPr>
            <a:r>
              <a:rPr lang="en-US" dirty="0"/>
              <a:t>Model class and </a:t>
            </a:r>
            <a:r>
              <a:rPr lang="en-US" dirty="0" err="1"/>
              <a:t>ModelType</a:t>
            </a:r>
            <a:r>
              <a:rPr lang="en-US" dirty="0"/>
              <a:t> </a:t>
            </a:r>
            <a:r>
              <a:rPr lang="en-US" dirty="0" err="1"/>
              <a:t>metaclass</a:t>
            </a:r>
            <a:r>
              <a:rPr lang="en-US" dirty="0"/>
              <a:t> implement “metaprogramming” (dynamic class generation) that enable the desired API</a:t>
            </a:r>
          </a:p>
          <a:p>
            <a:pPr marL="0" indent="0">
              <a:buNone/>
            </a:pPr>
            <a:r>
              <a:rPr lang="en-US" dirty="0"/>
              <a:t>Solver options can be set using as Model inner-class namespace (or in separate code, executed before model calls) to provide clear separation between mathematical model and numerical details</a:t>
            </a:r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9607F549-03CE-C391-E332-087B22A65B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19791558"/>
              </p:ext>
            </p:extLst>
          </p:nvPr>
        </p:nvGraphicFramePr>
        <p:xfrm>
          <a:off x="4772024" y="1297458"/>
          <a:ext cx="7275814" cy="46367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228">
                  <a:extLst>
                    <a:ext uri="{9D8B030D-6E8A-4147-A177-3AD203B41FA5}">
                      <a16:colId xmlns:a16="http://schemas.microsoft.com/office/drawing/2014/main" val="3785575868"/>
                    </a:ext>
                  </a:extLst>
                </a:gridCol>
                <a:gridCol w="1168921">
                  <a:extLst>
                    <a:ext uri="{9D8B030D-6E8A-4147-A177-3AD203B41FA5}">
                      <a16:colId xmlns:a16="http://schemas.microsoft.com/office/drawing/2014/main" val="831498153"/>
                    </a:ext>
                  </a:extLst>
                </a:gridCol>
                <a:gridCol w="1924256">
                  <a:extLst>
                    <a:ext uri="{9D8B030D-6E8A-4147-A177-3AD203B41FA5}">
                      <a16:colId xmlns:a16="http://schemas.microsoft.com/office/drawing/2014/main" val="1483990506"/>
                    </a:ext>
                  </a:extLst>
                </a:gridCol>
                <a:gridCol w="1943409">
                  <a:extLst>
                    <a:ext uri="{9D8B030D-6E8A-4147-A177-3AD203B41FA5}">
                      <a16:colId xmlns:a16="http://schemas.microsoft.com/office/drawing/2014/main" val="2636472036"/>
                    </a:ext>
                  </a:extLst>
                </a:gridCol>
              </a:tblGrid>
              <a:tr h="49189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Fields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13611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Built-in template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internal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output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92025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ExplicitSystem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8256477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AlgebraicSystem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implicit_output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explicit_output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71966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OptimizationProblem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objective</a:t>
                      </a:r>
                    </a:p>
                    <a:p>
                      <a:r>
                        <a:rPr lang="en-US" dirty="0"/>
                        <a:t>constraint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8867081"/>
                  </a:ext>
                </a:extLst>
              </a:tr>
              <a:tr h="1212899">
                <a:tc>
                  <a:txBody>
                    <a:bodyPr/>
                    <a:lstStyle/>
                    <a:p>
                      <a:r>
                        <a:rPr lang="en-US" dirty="0" err="1"/>
                        <a:t>TrajectoryAnalysis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state</a:t>
                      </a:r>
                    </a:p>
                    <a:p>
                      <a:r>
                        <a:rPr lang="en-US" dirty="0"/>
                        <a:t>dot</a:t>
                      </a:r>
                    </a:p>
                    <a:p>
                      <a:r>
                        <a:rPr lang="en-US" dirty="0"/>
                        <a:t>initial</a:t>
                      </a:r>
                    </a:p>
                    <a:p>
                      <a:r>
                        <a:rPr lang="en-US" dirty="0"/>
                        <a:t>event update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trajectory_output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3557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22099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87BC3B-13B3-5540-8EA1-F3BF9E46E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definitions are symbolic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3C715-B66A-1BB6-5439-D15566309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most mathematical models, this is what you want</a:t>
            </a:r>
          </a:p>
          <a:p>
            <a:r>
              <a:rPr lang="en-US" dirty="0"/>
              <a:t>Conditionals: Use float-casting of </a:t>
            </a:r>
            <a:r>
              <a:rPr lang="en-US" dirty="0" err="1"/>
              <a:t>boolean</a:t>
            </a:r>
            <a:r>
              <a:rPr lang="en-US" dirty="0"/>
              <a:t> expressions to construct piecewise models instead of if-else flow control</a:t>
            </a:r>
          </a:p>
          <a:p>
            <a:r>
              <a:rPr lang="en-US" dirty="0"/>
              <a:t>higher-level interfaces: settings module</a:t>
            </a:r>
          </a:p>
          <a:p>
            <a:r>
              <a:rPr lang="en-US" dirty="0"/>
              <a:t>If you need a lot of conditionals, loops, and interface logic maybe you need a new template, implementation, and/or solver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565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284C7-B24E-2E94-2496-441AFD4BF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Gascon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8E21D-C0DA-E154-7DA5-3EDF78A495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GASP Advancement using Symbolics in </a:t>
            </a:r>
            <a:r>
              <a:rPr lang="en-US" dirty="0" err="1"/>
              <a:t>CONdor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  …Analysis and Supplemental modeling…</a:t>
            </a:r>
          </a:p>
          <a:p>
            <a:pPr marL="0" indent="0">
              <a:buNone/>
            </a:pPr>
            <a:r>
              <a:rPr lang="en-US" dirty="0"/>
              <a:t>			  … Substitutable models? Solutions? Etc.</a:t>
            </a:r>
          </a:p>
          <a:p>
            <a:r>
              <a:rPr lang="en-US" dirty="0"/>
              <a:t>Demonstrate achievement of condor goals by giving two under-graduate summer interns 10 weeks to re-implement </a:t>
            </a:r>
            <a:r>
              <a:rPr lang="en-US" dirty="0" err="1"/>
              <a:t>GASPy</a:t>
            </a:r>
            <a:r>
              <a:rPr lang="en-US" dirty="0"/>
              <a:t>, which took a team of experienced engineers 2+ years to implement</a:t>
            </a:r>
          </a:p>
          <a:p>
            <a:r>
              <a:rPr lang="en-US" dirty="0"/>
              <a:t>Fastest path to solve EPFD’s coupled optimization problem</a:t>
            </a:r>
          </a:p>
        </p:txBody>
      </p:sp>
    </p:spTree>
    <p:extLst>
      <p:ext uri="{BB962C8B-B14F-4D97-AF65-F5344CB8AC3E}">
        <p14:creationId xmlns:p14="http://schemas.microsoft.com/office/powerpoint/2010/main" val="611900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2801</TotalTime>
  <Words>1078</Words>
  <Application>Microsoft Macintosh PowerPoint</Application>
  <PresentationFormat>Widescreen</PresentationFormat>
  <Paragraphs>127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Office Theme</vt:lpstr>
      <vt:lpstr>Condor</vt:lpstr>
      <vt:lpstr>Motivation</vt:lpstr>
      <vt:lpstr>If you could start from “scratch,” what would you do?</vt:lpstr>
      <vt:lpstr>Documentation-driven design</vt:lpstr>
      <vt:lpstr>Decide how user code should look then make it possible</vt:lpstr>
      <vt:lpstr>First draft</vt:lpstr>
      <vt:lpstr>Goals</vt:lpstr>
      <vt:lpstr>DRY organization</vt:lpstr>
      <vt:lpstr>Backend</vt:lpstr>
      <vt:lpstr>Layer boundaries</vt:lpstr>
      <vt:lpstr>PowerPoint Presentation</vt:lpstr>
      <vt:lpstr>The Model layer</vt:lpstr>
      <vt:lpstr>Model definitions are symbolic</vt:lpstr>
      <vt:lpstr>Gascon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Condor</dc:title>
  <dc:creator>Margolis, Benjamin W. (ARC-AA)</dc:creator>
  <cp:lastModifiedBy>Margolis, Benjamin W. (ARC-AA)</cp:lastModifiedBy>
  <cp:revision>51</cp:revision>
  <dcterms:created xsi:type="dcterms:W3CDTF">2023-07-09T17:45:53Z</dcterms:created>
  <dcterms:modified xsi:type="dcterms:W3CDTF">2023-07-11T16:27:14Z</dcterms:modified>
</cp:coreProperties>
</file>